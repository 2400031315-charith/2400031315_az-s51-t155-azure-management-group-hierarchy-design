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7354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880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930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314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21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005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908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14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7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14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0225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3953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44432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3125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5395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916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23FD78-05A9-4282-A9DA-B263AF22A001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E2CF377-5FF1-46B2-9606-89A9F7077B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3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35F2-3348-B844-4581-344E6BAAA6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261" y="619430"/>
            <a:ext cx="7766936" cy="1779584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Azure Management Group Hierarchy Design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4E5B8-C966-93AA-CF36-28F9160D00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261" y="2399014"/>
            <a:ext cx="7766936" cy="1096899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Policy Inheritance and Department-Level Governance</a:t>
            </a:r>
          </a:p>
          <a:p>
            <a:endParaRPr lang="en-IN" sz="3200" dirty="0">
              <a:solidFill>
                <a:schemeClr val="tx2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362BC0-DBD5-D779-BB94-5693C5527648}"/>
              </a:ext>
            </a:extLst>
          </p:cNvPr>
          <p:cNvSpPr txBox="1"/>
          <p:nvPr/>
        </p:nvSpPr>
        <p:spPr>
          <a:xfrm>
            <a:off x="3753853" y="3888833"/>
            <a:ext cx="6702091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solidFill>
                  <a:schemeClr val="tx2">
                    <a:lumMod val="75000"/>
                  </a:schemeClr>
                </a:solidFill>
              </a:rPr>
              <a:t>Team</a:t>
            </a:r>
            <a:r>
              <a:rPr lang="en-IN" sz="2500" dirty="0">
                <a:solidFill>
                  <a:schemeClr val="tx2">
                    <a:lumMod val="75000"/>
                  </a:schemeClr>
                </a:solidFill>
              </a:rPr>
              <a:t>-</a:t>
            </a:r>
            <a:r>
              <a:rPr lang="en-IN" sz="2800" dirty="0">
                <a:solidFill>
                  <a:schemeClr val="tx2">
                    <a:lumMod val="75000"/>
                  </a:schemeClr>
                </a:solidFill>
              </a:rPr>
              <a:t>T155</a:t>
            </a:r>
          </a:p>
          <a:p>
            <a:pPr algn="ctr"/>
            <a:r>
              <a:rPr lang="en-IN" sz="2800" b="1" dirty="0"/>
              <a:t>Technology:</a:t>
            </a:r>
            <a:r>
              <a:rPr lang="en-IN" sz="2800" dirty="0"/>
              <a:t> Microsoft Azure</a:t>
            </a:r>
          </a:p>
          <a:p>
            <a:pPr algn="ctr"/>
            <a:r>
              <a:rPr lang="en-IN" sz="2800" b="1" dirty="0"/>
              <a:t>Project ID:</a:t>
            </a:r>
            <a:r>
              <a:rPr lang="en-IN" sz="2800" dirty="0"/>
              <a:t> 24CC3046-P053</a:t>
            </a:r>
          </a:p>
          <a:p>
            <a:pPr algn="ctr"/>
            <a:endParaRPr lang="en-IN" sz="2500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878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0568C-2A18-7602-02F1-362863AF09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79" y="0"/>
            <a:ext cx="7766936" cy="1646302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Problem Statement &amp; 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0DA933-0E75-6293-F5CA-046A3D6CB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498" y="1676602"/>
            <a:ext cx="8566341" cy="1646302"/>
          </a:xfrm>
        </p:spPr>
        <p:txBody>
          <a:bodyPr>
            <a:no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tx1"/>
                </a:solidFill>
              </a:rPr>
              <a:t>Problem Statement</a:t>
            </a:r>
          </a:p>
          <a:p>
            <a:pPr algn="just"/>
            <a:r>
              <a:rPr lang="en-IN" sz="1600" dirty="0">
                <a:solidFill>
                  <a:schemeClr val="tx1"/>
                </a:solidFill>
              </a:rPr>
              <a:t>Managing multiple departments in Azure can become difficult when subscriptions and resources grow. Without a proper management hierarchy, applying and maintaining governance policies separately for each department can lead to duplication and inconsistent configurations</a:t>
            </a:r>
            <a:r>
              <a:rPr lang="en-IN" sz="2400" dirty="0">
                <a:solidFill>
                  <a:schemeClr val="tx1"/>
                </a:solidFill>
              </a:rPr>
              <a:t>.</a:t>
            </a:r>
            <a:endParaRPr lang="en-IN" sz="2400" b="1" dirty="0">
              <a:solidFill>
                <a:schemeClr val="tx1"/>
              </a:solidFill>
            </a:endParaRPr>
          </a:p>
          <a:p>
            <a:pPr algn="just"/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691F2F-8D60-E187-F222-8E0BF16A6373}"/>
              </a:ext>
            </a:extLst>
          </p:cNvPr>
          <p:cNvSpPr txBox="1"/>
          <p:nvPr/>
        </p:nvSpPr>
        <p:spPr>
          <a:xfrm>
            <a:off x="528498" y="3429000"/>
            <a:ext cx="75567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Objectives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B8CD5F-E3C7-B282-6C5E-680AF66730C6}"/>
              </a:ext>
            </a:extLst>
          </p:cNvPr>
          <p:cNvSpPr txBox="1"/>
          <p:nvPr/>
        </p:nvSpPr>
        <p:spPr>
          <a:xfrm>
            <a:off x="736563" y="4012150"/>
            <a:ext cx="607749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Design a centralized </a:t>
            </a:r>
            <a:r>
              <a:rPr lang="en-IN" sz="1600" b="1" dirty="0"/>
              <a:t>Azure Management Group hierarchy</a:t>
            </a:r>
            <a:r>
              <a:rPr lang="en-IN" sz="1600" dirty="0"/>
              <a:t> for four departments.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Organize </a:t>
            </a:r>
            <a:r>
              <a:rPr lang="en-IN" sz="1600" b="1" dirty="0"/>
              <a:t>IT, Finance, HR, and Operations</a:t>
            </a:r>
            <a:r>
              <a:rPr lang="en-IN" sz="1600" dirty="0"/>
              <a:t> under one organization.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Apply governance policies at the </a:t>
            </a:r>
            <a:r>
              <a:rPr lang="en-IN" sz="1600" b="1" dirty="0"/>
              <a:t>organization level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Demonstrate </a:t>
            </a:r>
            <a:r>
              <a:rPr lang="en-IN" sz="1600" b="1" dirty="0"/>
              <a:t>policy inheritance</a:t>
            </a:r>
            <a:r>
              <a:rPr lang="en-IN" sz="1600" dirty="0"/>
              <a:t> to child departments.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Apply an additional </a:t>
            </a:r>
            <a:r>
              <a:rPr lang="en-IN" sz="1600" b="1" dirty="0"/>
              <a:t>department-specific policy</a:t>
            </a:r>
            <a:r>
              <a:rPr lang="en-IN" sz="1600" dirty="0"/>
              <a:t> to 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Reduce policy duplication and improve centralized governance.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711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7FC5D-854E-3749-F081-BA3F4B160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104" y="62983"/>
            <a:ext cx="6772786" cy="992513"/>
          </a:xfrm>
        </p:spPr>
        <p:txBody>
          <a:bodyPr/>
          <a:lstStyle/>
          <a:p>
            <a:r>
              <a:rPr lang="en-IN" sz="3000" dirty="0">
                <a:solidFill>
                  <a:schemeClr val="tx2"/>
                </a:solidFill>
              </a:rPr>
              <a:t>Azure Management Group Hierarchy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4B4EC0-7844-5483-CE2A-7D669C056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2497" y="3323246"/>
            <a:ext cx="4751164" cy="3254535"/>
          </a:xfrm>
        </p:spPr>
        <p:txBody>
          <a:bodyPr>
            <a:normAutofit fontScale="92500"/>
          </a:bodyPr>
          <a:lstStyle/>
          <a:p>
            <a:pPr algn="just"/>
            <a:r>
              <a:rPr lang="en-IN" b="1" dirty="0">
                <a:solidFill>
                  <a:schemeClr val="tx1"/>
                </a:solidFill>
              </a:rPr>
              <a:t>Hierarchy Components</a:t>
            </a:r>
            <a:endParaRPr lang="en-IN" dirty="0">
              <a:solidFill>
                <a:schemeClr val="tx1"/>
              </a:solidFill>
            </a:endParaRP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tx1"/>
                </a:solidFill>
              </a:rPr>
              <a:t>ABC Organization</a:t>
            </a:r>
            <a:r>
              <a:rPr lang="en-IN" sz="1700" dirty="0">
                <a:solidFill>
                  <a:schemeClr val="tx1"/>
                </a:solidFill>
              </a:rPr>
              <a:t> – Parent management group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tx1"/>
                </a:solidFill>
              </a:rPr>
              <a:t>IT Department</a:t>
            </a:r>
            <a:r>
              <a:rPr lang="en-IN" sz="1700" dirty="0">
                <a:solidFill>
                  <a:schemeClr val="tx1"/>
                </a:solidFill>
              </a:rPr>
              <a:t> – Technology-related governance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tx1"/>
                </a:solidFill>
              </a:rPr>
              <a:t>Finance Department</a:t>
            </a:r>
            <a:r>
              <a:rPr lang="en-IN" sz="1700" dirty="0">
                <a:solidFill>
                  <a:schemeClr val="tx1"/>
                </a:solidFill>
              </a:rPr>
              <a:t> – Financial resources and policies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tx1"/>
                </a:solidFill>
              </a:rPr>
              <a:t>HR Department</a:t>
            </a:r>
            <a:r>
              <a:rPr lang="en-IN" sz="1700" dirty="0">
                <a:solidFill>
                  <a:schemeClr val="tx1"/>
                </a:solidFill>
              </a:rPr>
              <a:t> – Human-resource related governance 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700" b="1" dirty="0">
                <a:solidFill>
                  <a:schemeClr val="tx1"/>
                </a:solidFill>
              </a:rPr>
              <a:t>Operations Department</a:t>
            </a:r>
            <a:r>
              <a:rPr lang="en-IN" sz="1700" dirty="0">
                <a:solidFill>
                  <a:schemeClr val="tx1"/>
                </a:solidFill>
              </a:rPr>
              <a:t> – Operational resources and policies</a:t>
            </a:r>
          </a:p>
          <a:p>
            <a:pPr algn="just"/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719396-88D2-EA4E-C068-D348DC1A2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16" y="1055496"/>
            <a:ext cx="8731045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463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8CACF-811D-60CD-6296-1759C064B6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3966"/>
            <a:ext cx="7555832" cy="974276"/>
          </a:xfrm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</a:rPr>
              <a:t>Organization-Level Policy Assignment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B223B-7244-EF2E-E52F-9D4CF8C17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3932" y="1066778"/>
            <a:ext cx="4665795" cy="718298"/>
          </a:xfrm>
        </p:spPr>
        <p:txBody>
          <a:bodyPr>
            <a:no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Policy: Allowed Locations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3F97F7-89AB-6F84-48BC-44345A35F5A6}"/>
              </a:ext>
            </a:extLst>
          </p:cNvPr>
          <p:cNvSpPr txBox="1"/>
          <p:nvPr/>
        </p:nvSpPr>
        <p:spPr>
          <a:xfrm>
            <a:off x="789039" y="1662180"/>
            <a:ext cx="66063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Policy Name:</a:t>
            </a:r>
            <a:br>
              <a:rPr lang="en-IN" sz="1600" dirty="0"/>
            </a:br>
            <a:r>
              <a:rPr lang="en-IN" sz="1600" dirty="0"/>
              <a:t>ABC Organization - Allowed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Scope:</a:t>
            </a:r>
            <a:br>
              <a:rPr lang="en-IN" sz="1600" dirty="0"/>
            </a:br>
            <a:r>
              <a:rPr lang="en-IN" sz="1600" dirty="0"/>
              <a:t>ABC Organization (</a:t>
            </a:r>
            <a:r>
              <a:rPr lang="en-IN" sz="1600" dirty="0" err="1"/>
              <a:t>abc</a:t>
            </a:r>
            <a:r>
              <a:rPr lang="en-IN" sz="1600" dirty="0"/>
              <a:t>-org)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Allowed </a:t>
            </a:r>
            <a:r>
              <a:rPr lang="en-IN" sz="1600" b="1" dirty="0" err="1"/>
              <a:t>Location:</a:t>
            </a:r>
            <a:r>
              <a:rPr lang="en-IN" sz="1600" dirty="0" err="1"/>
              <a:t>Central</a:t>
            </a:r>
            <a:r>
              <a:rPr lang="en-IN" sz="1600" dirty="0"/>
              <a:t> India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Effect:</a:t>
            </a:r>
            <a:r>
              <a:rPr lang="en-IN" sz="1600" dirty="0" err="1"/>
              <a:t>Deny</a:t>
            </a:r>
            <a:endParaRPr lang="en-IN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90030-2E5C-19ED-5297-A45E0F6AAC9A}"/>
              </a:ext>
            </a:extLst>
          </p:cNvPr>
          <p:cNvSpPr txBox="1"/>
          <p:nvPr/>
        </p:nvSpPr>
        <p:spPr>
          <a:xfrm>
            <a:off x="789039" y="3588715"/>
            <a:ext cx="6100916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dirty="0"/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A5E2F3-E749-0B8E-E12F-3835242F2F43}"/>
              </a:ext>
            </a:extLst>
          </p:cNvPr>
          <p:cNvSpPr txBox="1"/>
          <p:nvPr/>
        </p:nvSpPr>
        <p:spPr>
          <a:xfrm>
            <a:off x="854178" y="4142158"/>
            <a:ext cx="61009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dirty="0"/>
              <a:t>Restricts resource deployment to approved Azure regions. </a:t>
            </a:r>
          </a:p>
          <a:p>
            <a:pPr lvl="0"/>
            <a:r>
              <a:rPr lang="en-IN" dirty="0"/>
              <a:t>Prevents deployment in unauthorized locations. </a:t>
            </a:r>
          </a:p>
          <a:p>
            <a:pPr lvl="0"/>
            <a:r>
              <a:rPr lang="en-IN" dirty="0"/>
              <a:t>Provides centralized governance at the organization level. </a:t>
            </a:r>
          </a:p>
          <a:p>
            <a:pPr lvl="0"/>
            <a:r>
              <a:rPr lang="en-IN" dirty="0"/>
              <a:t>The policy can be inherited by child departments.</a:t>
            </a:r>
          </a:p>
        </p:txBody>
      </p:sp>
    </p:spTree>
    <p:extLst>
      <p:ext uri="{BB962C8B-B14F-4D97-AF65-F5344CB8AC3E}">
        <p14:creationId xmlns:p14="http://schemas.microsoft.com/office/powerpoint/2010/main" val="2753387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A7985-75C6-87B9-C6FD-0BF5C0F75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820" y="-109359"/>
            <a:ext cx="5063612" cy="1096899"/>
          </a:xfrm>
        </p:spPr>
        <p:txBody>
          <a:bodyPr/>
          <a:lstStyle/>
          <a:p>
            <a:r>
              <a:rPr lang="en-IN" sz="3000" dirty="0">
                <a:solidFill>
                  <a:schemeClr val="tx2"/>
                </a:solidFill>
              </a:rPr>
              <a:t>Policy Inheritance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9A911-4070-841A-9B89-D2F076923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009" y="987539"/>
            <a:ext cx="7766936" cy="4154731"/>
          </a:xfrm>
        </p:spPr>
        <p:txBody>
          <a:bodyPr>
            <a:no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Policy Inheritance Across Departments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Parent Policy:</a:t>
            </a:r>
            <a:endParaRPr lang="en-IN" sz="1600" dirty="0">
              <a:solidFill>
                <a:schemeClr val="tx1"/>
              </a:solidFill>
            </a:endParaRP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Policy: </a:t>
            </a:r>
            <a:r>
              <a:rPr lang="en-IN" sz="1600" b="1" dirty="0">
                <a:solidFill>
                  <a:schemeClr val="tx1"/>
                </a:solidFill>
              </a:rPr>
              <a:t>Allowed Locations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Scope: </a:t>
            </a:r>
            <a:r>
              <a:rPr lang="en-IN" sz="1600" b="1" dirty="0">
                <a:solidFill>
                  <a:schemeClr val="tx1"/>
                </a:solidFill>
              </a:rPr>
              <a:t>ABC Organization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Allowed Region: </a:t>
            </a:r>
            <a:r>
              <a:rPr lang="en-IN" sz="1600" b="1" dirty="0">
                <a:solidFill>
                  <a:schemeClr val="tx1"/>
                </a:solidFill>
              </a:rPr>
              <a:t>Central India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Effect: </a:t>
            </a:r>
            <a:r>
              <a:rPr lang="en-IN" sz="1600" b="1" dirty="0">
                <a:solidFill>
                  <a:schemeClr val="tx1"/>
                </a:solidFill>
              </a:rPr>
              <a:t>Deny</a:t>
            </a:r>
            <a:r>
              <a:rPr lang="en-IN" sz="1600" dirty="0">
                <a:solidFill>
                  <a:schemeClr val="tx1"/>
                </a:solidFill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600" b="1" dirty="0">
                <a:solidFill>
                  <a:schemeClr val="tx1"/>
                </a:solidFill>
              </a:rPr>
              <a:t>Inherited by:</a:t>
            </a:r>
            <a:endParaRPr lang="en-IN" sz="1600" dirty="0">
              <a:solidFill>
                <a:schemeClr val="tx1"/>
              </a:solidFill>
            </a:endParaRP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IT Department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Finance Department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HR Department </a:t>
            </a:r>
          </a:p>
          <a:p>
            <a:pPr lvl="0" algn="just"/>
            <a:r>
              <a:rPr lang="en-IN" sz="1600" dirty="0">
                <a:solidFill>
                  <a:schemeClr val="tx1"/>
                </a:solidFill>
              </a:rPr>
              <a:t>Operations Department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267FD7-DC96-A630-09F4-5B3C9FC6F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671" y="1396179"/>
            <a:ext cx="7245826" cy="500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281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C5A5A-C6A2-507A-2781-7C41398D6F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661" y="-782786"/>
            <a:ext cx="6024442" cy="1833169"/>
          </a:xfrm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</a:rPr>
              <a:t>Department-Level Governance</a:t>
            </a:r>
            <a:endParaRPr lang="en-IN" sz="30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A060B7-2DE0-6FEE-3B25-AB516C483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141" y="1050383"/>
            <a:ext cx="7766936" cy="2074664"/>
          </a:xfrm>
        </p:spPr>
        <p:txBody>
          <a:bodyPr>
            <a:normAutofit/>
          </a:bodyPr>
          <a:lstStyle/>
          <a:p>
            <a:pPr algn="just"/>
            <a:r>
              <a:rPr lang="en-IN" b="1" dirty="0">
                <a:solidFill>
                  <a:schemeClr val="tx1"/>
                </a:solidFill>
              </a:rPr>
              <a:t>IT Department-Specific Governance</a:t>
            </a: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Policy:</a:t>
            </a:r>
            <a:r>
              <a:rPr lang="en-IN" dirty="0">
                <a:solidFill>
                  <a:schemeClr val="tx1"/>
                </a:solidFill>
              </a:rPr>
              <a:t> Require a tag on resources</a:t>
            </a: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Scope:</a:t>
            </a:r>
            <a:r>
              <a:rPr lang="en-IN" dirty="0">
                <a:solidFill>
                  <a:schemeClr val="tx1"/>
                </a:solidFill>
              </a:rPr>
              <a:t> IT Department (</a:t>
            </a:r>
            <a:r>
              <a:rPr lang="en-IN" dirty="0" err="1">
                <a:solidFill>
                  <a:schemeClr val="tx1"/>
                </a:solidFill>
              </a:rPr>
              <a:t>abc</a:t>
            </a:r>
            <a:r>
              <a:rPr lang="en-IN" dirty="0">
                <a:solidFill>
                  <a:schemeClr val="tx1"/>
                </a:solidFill>
              </a:rPr>
              <a:t>-it)</a:t>
            </a:r>
          </a:p>
          <a:p>
            <a:pPr algn="just"/>
            <a:r>
              <a:rPr lang="en-IN" b="1" dirty="0">
                <a:solidFill>
                  <a:schemeClr val="tx1"/>
                </a:solidFill>
              </a:rPr>
              <a:t>Required Tag:</a:t>
            </a:r>
            <a:endParaRPr lang="en-IN" dirty="0">
              <a:solidFill>
                <a:schemeClr val="tx1"/>
              </a:solidFill>
            </a:endParaRPr>
          </a:p>
          <a:p>
            <a:pPr algn="just"/>
            <a:r>
              <a:rPr lang="en-IN" dirty="0">
                <a:solidFill>
                  <a:schemeClr val="tx1"/>
                </a:solidFill>
              </a:rPr>
              <a:t>Department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DB79CE-516F-2AF5-852C-D7ABABB7A1DB}"/>
              </a:ext>
            </a:extLst>
          </p:cNvPr>
          <p:cNvSpPr txBox="1"/>
          <p:nvPr/>
        </p:nvSpPr>
        <p:spPr>
          <a:xfrm>
            <a:off x="396024" y="3125047"/>
            <a:ext cx="4982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Why?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Adds department-specific governance.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receives the organization-level policy </a:t>
            </a:r>
            <a:r>
              <a:rPr lang="en-IN" b="1" dirty="0"/>
              <a:t>plus</a:t>
            </a:r>
            <a:r>
              <a:rPr lang="en-IN" dirty="0"/>
              <a:t> its own policy.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Demonstrates multiple effective policies at different hierarchy levels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46DD9F-6CE5-3EA9-B895-A874DD3A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548" y="1050383"/>
            <a:ext cx="6489291" cy="4757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659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C2C979-67BC-0181-83EC-9DA1F72005B5}"/>
              </a:ext>
            </a:extLst>
          </p:cNvPr>
          <p:cNvSpPr txBox="1"/>
          <p:nvPr/>
        </p:nvSpPr>
        <p:spPr>
          <a:xfrm>
            <a:off x="523566" y="495962"/>
            <a:ext cx="78633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/>
              <a:t>Conclusion &amp; Future Scope</a:t>
            </a: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14D5E-1CE6-9C87-5856-89D425214A92}"/>
              </a:ext>
            </a:extLst>
          </p:cNvPr>
          <p:cNvSpPr txBox="1"/>
          <p:nvPr/>
        </p:nvSpPr>
        <p:spPr>
          <a:xfrm>
            <a:off x="798871" y="1250448"/>
            <a:ext cx="6100916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Conclusion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Successfully designed a </a:t>
            </a:r>
            <a:r>
              <a:rPr lang="en-IN" b="1" dirty="0"/>
              <a:t>four-department Azure Management Group hierarchy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Implemented centralized governance using </a:t>
            </a:r>
            <a:r>
              <a:rPr lang="en-IN" b="1" dirty="0"/>
              <a:t>Azure Policy</a:t>
            </a:r>
            <a:r>
              <a:rPr lang="en-IN" dirty="0"/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Demonstrated </a:t>
            </a:r>
            <a:r>
              <a:rPr lang="en-IN" b="1" dirty="0"/>
              <a:t>policy inheritance</a:t>
            </a:r>
            <a:r>
              <a:rPr lang="en-IN" dirty="0"/>
              <a:t> from the parent management group.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Implemented </a:t>
            </a:r>
            <a:r>
              <a:rPr lang="en-IN" b="1" dirty="0"/>
              <a:t>department-specific governance</a:t>
            </a:r>
            <a:r>
              <a:rPr lang="en-IN" dirty="0"/>
              <a:t> for IT.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Reduced the need for duplicate policy assignments. 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87DCDC-395D-E4DB-6F20-79BB53774804}"/>
              </a:ext>
            </a:extLst>
          </p:cNvPr>
          <p:cNvSpPr txBox="1"/>
          <p:nvPr/>
        </p:nvSpPr>
        <p:spPr>
          <a:xfrm>
            <a:off x="798871" y="3957765"/>
            <a:ext cx="610091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Add subscriptions under the appropriate department management groups.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Implement department-specific policies for Finance, HR, and Operations.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Monitor compliance using the Azure Policy Compliance dashboard.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Add more security and cost-governance policies.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Automate governance using Azure Policy initiatives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71525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105</TotalTime>
  <Words>390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Facet</vt:lpstr>
      <vt:lpstr>Azure Management Group Hierarchy Design </vt:lpstr>
      <vt:lpstr>Problem Statement &amp; Objectives</vt:lpstr>
      <vt:lpstr>Azure Management Group Hierarchy</vt:lpstr>
      <vt:lpstr>Organization-Level Policy Assignment</vt:lpstr>
      <vt:lpstr>Policy Inheritance</vt:lpstr>
      <vt:lpstr>Department-Level Governance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Dhanunjay K</dc:creator>
  <cp:lastModifiedBy>Dhanunjay K</cp:lastModifiedBy>
  <cp:revision>3</cp:revision>
  <dcterms:created xsi:type="dcterms:W3CDTF">2026-06-25T06:19:50Z</dcterms:created>
  <dcterms:modified xsi:type="dcterms:W3CDTF">2026-08-26T02:28:31Z</dcterms:modified>
</cp:coreProperties>
</file>